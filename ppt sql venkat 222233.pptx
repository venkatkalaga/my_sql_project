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2" r:id="rId6"/>
    <p:sldId id="261" r:id="rId7"/>
    <p:sldId id="264" r:id="rId8"/>
    <p:sldId id="265" r:id="rId9"/>
    <p:sldId id="269" r:id="rId10"/>
    <p:sldId id="270" r:id="rId11"/>
    <p:sldId id="271" r:id="rId12"/>
    <p:sldId id="272" r:id="rId13"/>
    <p:sldId id="266" r:id="rId14"/>
    <p:sldId id="267" r:id="rId15"/>
    <p:sldId id="268" r:id="rId16"/>
    <p:sldId id="259" r:id="rId17"/>
  </p:sldIdLst>
  <p:sldSz cx="12192000" cy="6858000"/>
  <p:notesSz cx="6858000" cy="9144000"/>
  <p:embeddedFontLst>
    <p:embeddedFont>
      <p:font typeface="Libre Baskerville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68104-DE3F-4F8C-B9DF-A8219CD1816F}" v="9" dt="2026-09-07T10:28:57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jana sri uppu" userId="52447b2075235fe0" providerId="LiveId" clId="{7F52AD5E-645D-48B7-9B96-1EF480CA9DD9}"/>
    <pc:docChg chg="modSld">
      <pc:chgData name="srujana sri uppu" userId="52447b2075235fe0" providerId="LiveId" clId="{7F52AD5E-645D-48B7-9B96-1EF480CA9DD9}" dt="2026-09-07T10:32:26.551" v="104" actId="14100"/>
      <pc:docMkLst>
        <pc:docMk/>
      </pc:docMkLst>
      <pc:sldChg chg="modSp mod">
        <pc:chgData name="srujana sri uppu" userId="52447b2075235fe0" providerId="LiveId" clId="{7F52AD5E-645D-48B7-9B96-1EF480CA9DD9}" dt="2026-09-07T10:31:15.312" v="103" actId="14100"/>
        <pc:sldMkLst>
          <pc:docMk/>
          <pc:sldMk cId="0" sldId="256"/>
        </pc:sldMkLst>
        <pc:picChg chg="mod">
          <ac:chgData name="srujana sri uppu" userId="52447b2075235fe0" providerId="LiveId" clId="{7F52AD5E-645D-48B7-9B96-1EF480CA9DD9}" dt="2026-09-07T10:31:15.312" v="103" actId="14100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srujana sri uppu" userId="52447b2075235fe0" providerId="LiveId" clId="{7F52AD5E-645D-48B7-9B96-1EF480CA9DD9}" dt="2026-09-07T10:28:38.140" v="100" actId="20577"/>
        <pc:sldMkLst>
          <pc:docMk/>
          <pc:sldMk cId="0" sldId="257"/>
        </pc:sldMkLst>
        <pc:spChg chg="mod">
          <ac:chgData name="srujana sri uppu" userId="52447b2075235fe0" providerId="LiveId" clId="{7F52AD5E-645D-48B7-9B96-1EF480CA9DD9}" dt="2026-09-07T10:28:38.140" v="100" actId="20577"/>
          <ac:spMkLst>
            <pc:docMk/>
            <pc:sldMk cId="0" sldId="257"/>
            <ac:spMk id="2" creationId="{0138F777-CD89-7066-DFF1-0C9BF6F949E6}"/>
          </ac:spMkLst>
        </pc:spChg>
        <pc:spChg chg="mod">
          <ac:chgData name="srujana sri uppu" userId="52447b2075235fe0" providerId="LiveId" clId="{7F52AD5E-645D-48B7-9B96-1EF480CA9DD9}" dt="2026-09-07T10:24:07.481" v="89" actId="20577"/>
          <ac:spMkLst>
            <pc:docMk/>
            <pc:sldMk cId="0" sldId="257"/>
            <ac:spMk id="3" creationId="{F0AC247A-CBEB-369B-FF7B-7EF083A78D09}"/>
          </ac:spMkLst>
        </pc:spChg>
        <pc:spChg chg="mod">
          <ac:chgData name="srujana sri uppu" userId="52447b2075235fe0" providerId="LiveId" clId="{7F52AD5E-645D-48B7-9B96-1EF480CA9DD9}" dt="2026-09-07T10:25:21.510" v="95" actId="20577"/>
          <ac:spMkLst>
            <pc:docMk/>
            <pc:sldMk cId="0" sldId="257"/>
            <ac:spMk id="104" creationId="{00000000-0000-0000-0000-000000000000}"/>
          </ac:spMkLst>
        </pc:spChg>
      </pc:sldChg>
      <pc:sldChg chg="modSp mod">
        <pc:chgData name="srujana sri uppu" userId="52447b2075235fe0" providerId="LiveId" clId="{7F52AD5E-645D-48B7-9B96-1EF480CA9DD9}" dt="2026-09-07T10:26:56.112" v="97" actId="1036"/>
        <pc:sldMkLst>
          <pc:docMk/>
          <pc:sldMk cId="3869289001" sldId="262"/>
        </pc:sldMkLst>
        <pc:spChg chg="mod">
          <ac:chgData name="srujana sri uppu" userId="52447b2075235fe0" providerId="LiveId" clId="{7F52AD5E-645D-48B7-9B96-1EF480CA9DD9}" dt="2026-09-07T10:26:56.112" v="97" actId="1036"/>
          <ac:spMkLst>
            <pc:docMk/>
            <pc:sldMk cId="3869289001" sldId="262"/>
            <ac:spMk id="3" creationId="{D6821BD3-9C7D-A32C-495C-6FC16B016B97}"/>
          </ac:spMkLst>
        </pc:spChg>
      </pc:sldChg>
      <pc:sldChg chg="modSp mod">
        <pc:chgData name="srujana sri uppu" userId="52447b2075235fe0" providerId="LiveId" clId="{7F52AD5E-645D-48B7-9B96-1EF480CA9DD9}" dt="2026-09-07T10:32:26.551" v="104" actId="14100"/>
        <pc:sldMkLst>
          <pc:docMk/>
          <pc:sldMk cId="4072362031" sldId="263"/>
        </pc:sldMkLst>
        <pc:spChg chg="mod">
          <ac:chgData name="srujana sri uppu" userId="52447b2075235fe0" providerId="LiveId" clId="{7F52AD5E-645D-48B7-9B96-1EF480CA9DD9}" dt="2026-09-07T10:32:26.551" v="104" actId="14100"/>
          <ac:spMkLst>
            <pc:docMk/>
            <pc:sldMk cId="4072362031" sldId="263"/>
            <ac:spMk id="3" creationId="{D4166CEF-25AA-AF40-A124-08845A4689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4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572125" y="3815957"/>
            <a:ext cx="1104715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HOSPITAL PATIENT CARE OPERATIONS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63179-8D7A-F871-3F75-29602836ABF1}"/>
              </a:ext>
            </a:extLst>
          </p:cNvPr>
          <p:cNvSpPr txBox="1"/>
          <p:nvPr/>
        </p:nvSpPr>
        <p:spPr>
          <a:xfrm>
            <a:off x="4215219" y="5551714"/>
            <a:ext cx="3760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Kalagadandu Venkata Rao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F99B1-81AC-EE8D-3613-1759C2A6BAB4}"/>
              </a:ext>
            </a:extLst>
          </p:cNvPr>
          <p:cNvSpPr txBox="1"/>
          <p:nvPr/>
        </p:nvSpPr>
        <p:spPr>
          <a:xfrm>
            <a:off x="2993274" y="5076425"/>
            <a:ext cx="62048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ts val="1800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MySQL  Project</a:t>
            </a:r>
            <a:endParaRPr lang="en-US" sz="2000" b="1" i="0" u="none" strike="noStrike" cap="none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-4133667" y="555006"/>
            <a:ext cx="1113103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b="1" dirty="0">
                <a:solidFill>
                  <a:srgbClr val="FF0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      ABOUT</a:t>
            </a:r>
            <a:r>
              <a:rPr lang="en-IN" sz="1800" b="1" dirty="0">
                <a:solidFill>
                  <a:srgbClr val="FF0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ME</a:t>
            </a:r>
            <a:endParaRPr sz="4000" b="1" i="0" u="none" strike="noStrike" cap="none" dirty="0">
              <a:solidFill>
                <a:srgbClr val="FF0000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38F777-CD89-7066-DFF1-0C9BF6F949E6}"/>
              </a:ext>
            </a:extLst>
          </p:cNvPr>
          <p:cNvSpPr txBox="1"/>
          <p:nvPr/>
        </p:nvSpPr>
        <p:spPr>
          <a:xfrm>
            <a:off x="522514" y="1991064"/>
            <a:ext cx="98515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KALAGADANDU VENKATA RAO                             </a:t>
            </a:r>
          </a:p>
          <a:p>
            <a:endParaRPr lang="en-IN" sz="2400" b="1" dirty="0">
              <a:latin typeface="Times New Roman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Background: POST </a:t>
            </a:r>
            <a:r>
              <a:rPr lang="en-IN" sz="24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Graduation [</a:t>
            </a:r>
            <a:r>
              <a:rPr lang="en-IN" sz="2400" b="1" dirty="0">
                <a:solidFill>
                  <a:schemeClr val="dk1"/>
                </a:solidFill>
                <a:latin typeface="Times New Roman" pitchFamily="18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MBA</a:t>
            </a:r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endParaRPr lang="en-IN" sz="2400" b="1" dirty="0">
              <a:latin typeface="Times New Roman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latin typeface="Times New Roman" pitchFamily="18" charset="0"/>
                <a:ea typeface="Calibri" panose="020F0502020204030204" pitchFamily="34" charset="0"/>
                <a:cs typeface="Calibri" panose="020F0502020204030204" pitchFamily="34" charset="0"/>
              </a:rPr>
              <a:t>Work Experience: Fresher</a:t>
            </a:r>
          </a:p>
          <a:p>
            <a:endParaRPr lang="en-IN" sz="2400" b="1" dirty="0"/>
          </a:p>
          <a:p>
            <a:r>
              <a:rPr lang="en-IN" sz="2400" b="1" dirty="0">
                <a:latin typeface="Times New Roman" pitchFamily="18" charset="0"/>
              </a:rPr>
              <a:t>LinkedIn: https://www.linkedin.com/in/kalagadandu-venkata-rao-82216a334/</a:t>
            </a:r>
          </a:p>
          <a:p>
            <a:pPr lvl="0">
              <a:buClr>
                <a:schemeClr val="dk1"/>
              </a:buClr>
              <a:buSzPts val="2400"/>
            </a:pPr>
            <a:endParaRPr lang="fi-FI" sz="2400" b="1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fi-FI" sz="24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GitHub:-https://github.com/Venkatkalaga</a:t>
            </a:r>
          </a:p>
          <a:p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513275" y="435934"/>
            <a:ext cx="11516100" cy="1182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Agenda</a:t>
            </a:r>
            <a:r>
              <a:rPr lang="en-IN" dirty="0">
                <a:solidFill>
                  <a:srgbClr val="FF0000"/>
                </a:solidFill>
              </a:rPr>
              <a:t>  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79" y="1616148"/>
            <a:ext cx="10745121" cy="5241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Project  Overview</a:t>
            </a:r>
            <a:b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0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Project  Objective</a:t>
            </a:r>
            <a:b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0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Dataset &amp; Database Overview</a:t>
            </a:r>
            <a:b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0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ER Diagram &amp; Database Structure</a:t>
            </a:r>
            <a:b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0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SQL Analysis &amp; Business Questions</a:t>
            </a:r>
            <a:b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0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Key Insights &amp; Findings</a:t>
            </a:r>
            <a:b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0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Challenges Faced in the Project</a:t>
            </a:r>
            <a:b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</a:br>
            <a:endParaRPr sz="2000" b="1" dirty="0">
              <a:latin typeface="Times New Roman" pitchFamily="18" charset="0"/>
              <a:ea typeface="Arial"/>
              <a:cs typeface="Times New Roman" pitchFamily="18" charset="0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000" b="1" dirty="0"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Conclusion &amp; Recommendation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lang="en-IN" sz="2253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D2CD-3EA9-519D-2652-4639E341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E2C15-CA5F-3E4B-BCB7-373AD649F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6660"/>
            <a:ext cx="10676860" cy="4720304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project contains data about Doctors, patients, rooms, appointments, and Treatments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 analyzed Appointment trends, service types and priorities and booking channel 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 studied patient behavior ,patient types , preferred time slots,  and doctor performance. </a:t>
            </a:r>
          </a:p>
          <a:p>
            <a:pPr>
              <a:lnSpc>
                <a:spcPct val="20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 analyzed room usage, equipment types, treatment duration, waiting time  and treatment costs. 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We evaluated treatment status ,treatment performance , estimated costs</a:t>
            </a:r>
          </a:p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Actual treatment costs  to identify areas where hospital operations and resource utilization can be improved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909588"/>
      </p:ext>
    </p:extLst>
  </p:cSld>
  <p:clrMapOvr>
    <a:masterClrMapping/>
  </p:clrMapOvr>
  <p:transition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5B6B-9069-C32D-7430-B6B798AB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Arial"/>
              </a:rPr>
              <a:t>Project Objective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21BD3-9C7D-A32C-495C-6FC16B016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9985"/>
            <a:ext cx="10515600" cy="4718553"/>
          </a:xfrm>
        </p:spPr>
        <p:txBody>
          <a:bodyPr>
            <a:normAutofit/>
          </a:bodyPr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hospital manages how efficiently hospital services and resources are being utilized.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need to know patient preferences, appointment patterns, service types, factors affecting treatment experience.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hospital wants to identify high-demand services, frequently used rooms and areas with lower performance.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also wants to identify issues such as high waiting time, long treatment duration, treatment status, and cost variations to improve overall hospital efficiency and patient service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289001"/>
      </p:ext>
    </p:extLst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02DD-C7AC-1B77-7602-C9535844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Dataset &amp; Database Overview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38D500-F99C-DE4B-88D9-842C7FE32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968848"/>
              </p:ext>
            </p:extLst>
          </p:nvPr>
        </p:nvGraphicFramePr>
        <p:xfrm>
          <a:off x="616857" y="1790095"/>
          <a:ext cx="9071430" cy="3751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867">
                  <a:extLst>
                    <a:ext uri="{9D8B030D-6E8A-4147-A177-3AD203B41FA5}">
                      <a16:colId xmlns:a16="http://schemas.microsoft.com/office/drawing/2014/main" val="3576111983"/>
                    </a:ext>
                  </a:extLst>
                </a:gridCol>
                <a:gridCol w="3127753">
                  <a:extLst>
                    <a:ext uri="{9D8B030D-6E8A-4147-A177-3AD203B41FA5}">
                      <a16:colId xmlns:a16="http://schemas.microsoft.com/office/drawing/2014/main" val="1341680218"/>
                    </a:ext>
                  </a:extLst>
                </a:gridCol>
                <a:gridCol w="3023810">
                  <a:extLst>
                    <a:ext uri="{9D8B030D-6E8A-4147-A177-3AD203B41FA5}">
                      <a16:colId xmlns:a16="http://schemas.microsoft.com/office/drawing/2014/main" val="4248818991"/>
                    </a:ext>
                  </a:extLst>
                </a:gridCol>
              </a:tblGrid>
              <a:tr h="615648">
                <a:tc>
                  <a:txBody>
                    <a:bodyPr/>
                    <a:lstStyle/>
                    <a:p>
                      <a:r>
                        <a:rPr lang="en-US" sz="280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COLUMNS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678113"/>
                  </a:ext>
                </a:extLst>
              </a:tr>
              <a:tr h="711148">
                <a:tc>
                  <a:txBody>
                    <a:bodyPr/>
                    <a:lstStyle/>
                    <a:p>
                      <a:r>
                        <a:rPr lang="en-US" sz="2400" dirty="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60962"/>
                  </a:ext>
                </a:extLst>
              </a:tr>
              <a:tr h="675718">
                <a:tc>
                  <a:txBody>
                    <a:bodyPr/>
                    <a:lstStyle/>
                    <a:p>
                      <a:r>
                        <a:rPr lang="en-US" sz="2400" dirty="0"/>
                        <a:t>appointments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39414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/>
                        <a:t>treatments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674813"/>
                  </a:ext>
                </a:extLst>
              </a:tr>
              <a:tr h="531800">
                <a:tc>
                  <a:txBody>
                    <a:bodyPr/>
                    <a:lstStyle/>
                    <a:p>
                      <a:r>
                        <a:rPr lang="en-US" sz="2400" dirty="0"/>
                        <a:t>doctors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464326"/>
                  </a:ext>
                </a:extLst>
              </a:tr>
              <a:tr h="531800">
                <a:tc>
                  <a:txBody>
                    <a:bodyPr/>
                    <a:lstStyle/>
                    <a:p>
                      <a:r>
                        <a:rPr lang="en-US" sz="2400" dirty="0"/>
                        <a:t>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941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245619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562D-BBFE-3EA0-885A-2872AB34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rmAutofit/>
          </a:bodyPr>
          <a:lstStyle/>
          <a:p>
            <a:pPr marL="457200" lvl="0" indent="-371634">
              <a:lnSpc>
                <a:spcPct val="70000"/>
              </a:lnSpc>
            </a:pPr>
            <a:r>
              <a:rPr lang="en-IN" sz="32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ER Diagram &amp; Database Structure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4BBA1-8EAA-EA92-0D77-7D8ADBC5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78" y="1061357"/>
            <a:ext cx="11314044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49338"/>
      </p:ext>
    </p:extLst>
  </p:cSld>
  <p:clrMapOvr>
    <a:masterClrMapping/>
  </p:clrMapOvr>
  <p:transition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C3F7-F66C-D69D-8531-C8AF12B5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139"/>
            <a:ext cx="7986823" cy="691117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SQL Analysis &amp; Business Questions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55DDF-90CE-FF4C-2212-FDABC7DE0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78196"/>
            <a:ext cx="10515600" cy="5198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Objective based analysis ?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1028" name="AutoShape 4" descr="blob:https://web.whatsapp.com/4cac015d-f755-4581-8392-fe294237aef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blob:https://web.whatsapp.com/4cac015d-f755-4581-8392-fe294237aef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1020726" y="4429864"/>
            <a:ext cx="9367283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Joined appointments and patients using </a:t>
            </a:r>
            <a:r>
              <a:rPr lang="en-US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patient_id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to get the city for each appointment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 count and group by to compare appointment and identify cities with higher demand to lower demand cities</a:t>
            </a: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511AB-253E-D2CA-4BEE-3C64C607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808" y="1357549"/>
            <a:ext cx="5220429" cy="2962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7619D-9DF3-5E2A-8B4A-2E9FB2D93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1669313"/>
            <a:ext cx="5296639" cy="228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23748"/>
      </p:ext>
    </p:extLst>
  </p:cSld>
  <p:clrMapOvr>
    <a:masterClrMapping/>
  </p:clrMapOvr>
  <p:transition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F9CA-6022-D1B1-B579-06EAD37F6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056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Examine booking channels and their contribution to demand?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797442" y="4746033"/>
            <a:ext cx="9941442" cy="15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 appointments and grouped appointments table by booking channel to generate most appointments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Used count(*) to measure demand to each booking channel to over all appointments volume</a:t>
            </a:r>
            <a:endParaRPr kumimoji="0" 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3C00F-BE59-E1FD-770A-BD35D8617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26" y="1464859"/>
            <a:ext cx="6754168" cy="1848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B8E730-9D64-2C9F-626E-AF2A07CF6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94" y="1140964"/>
            <a:ext cx="5115639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4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5329-4A0A-5A7F-030C-89F358704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70" y="365126"/>
            <a:ext cx="10939130" cy="953311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compare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general,corporate,and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insurance ?</a:t>
            </a:r>
            <a:endParaRPr lang="en-IN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59218" y="4327451"/>
            <a:ext cx="11532781" cy="15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.joined appointments and patients using </a:t>
            </a:r>
            <a:r>
              <a:rPr kumimoji="0" 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patient_id</a:t>
            </a: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to compare appointments counts for </a:t>
            </a:r>
            <a:r>
              <a:rPr kumimoji="0" 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general,corporate</a:t>
            </a: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and insurance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Used count and group by to identify which </a:t>
            </a:r>
            <a:r>
              <a:rPr lang="en-US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patient_type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contribute highest and lowest appointment demand</a:t>
            </a:r>
            <a:r>
              <a:rPr kumimoji="0" 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26602-625A-2638-9306-7856CC700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09" y="1394026"/>
            <a:ext cx="6001588" cy="24006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388094-C9E9-5A27-C765-5D8842A4B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905" y="696095"/>
            <a:ext cx="3660752" cy="309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763"/>
      </p:ext>
    </p:extLst>
  </p:cSld>
  <p:clrMapOvr>
    <a:masterClrMapping/>
  </p:clrMapOvr>
  <p:transition>
    <p:cover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DE07-639E-A1BF-9F0B-23098ED9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814" y="365126"/>
            <a:ext cx="11087986" cy="836354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Examine treatment duration and waiting time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5D7CE-ACE5-F7A3-14EA-0E72AF3480E7}"/>
              </a:ext>
            </a:extLst>
          </p:cNvPr>
          <p:cNvSpPr txBox="1"/>
          <p:nvPr/>
        </p:nvSpPr>
        <p:spPr>
          <a:xfrm>
            <a:off x="599768" y="4689987"/>
            <a:ext cx="1011739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Calculated average treatment duration and average waiting time for each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treatment_status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This helps identify which treatment status have taken  longer treatment times and longer waiting times.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4989C0-5161-0459-549D-53F6489F0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3483"/>
            <a:ext cx="6728461" cy="23521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B59AE4-D4AF-7FAE-1884-F1EE798E4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400" y="1473483"/>
            <a:ext cx="4801270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0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433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Compare treatment outcomes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3766" y="4529470"/>
            <a:ext cx="10450033" cy="164749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Key Insights:</a:t>
            </a:r>
          </a:p>
          <a:p>
            <a:r>
              <a:rPr lang="en-US" sz="1800" dirty="0"/>
              <a:t>Joined PATIENTS, APPOINTMENTS, and TREATMENTS to compare treatment outcomes across different cities based on the patient's city.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/>
              <a:t>Used COUNT and GROUP BY to calculate the number of treatments for each treatment status in every city, helping identify better and lower treatment outcomes by location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717855-43FD-546B-FD6A-300D51180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396" y="999460"/>
            <a:ext cx="4182059" cy="3671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07851B-4D35-FB29-DF62-785DC8C4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22" y="1211673"/>
            <a:ext cx="5087060" cy="3105583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74CC-538B-EC13-21CA-2DB4E24C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17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Key Insights &amp; Findings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D3108-E02B-4DFD-9908-EAD5571DD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139" y="925033"/>
            <a:ext cx="10070805" cy="5092995"/>
          </a:xfrm>
        </p:spPr>
        <p:txBody>
          <a:bodyPr>
            <a:noAutofit/>
          </a:bodyPr>
          <a:lstStyle/>
          <a:p>
            <a:pPr lvl="0"/>
            <a:r>
              <a:rPr lang="en-US" sz="2000" dirty="0"/>
              <a:t>Appointment demand varies across cities, helping identify locations with higher and lower patient demand. </a:t>
            </a:r>
          </a:p>
          <a:p>
            <a:pPr lvl="0"/>
            <a:r>
              <a:rPr lang="en-US" sz="2000" dirty="0"/>
              <a:t>Booking channels contribute differently to appointment volume, showing which channels are more effective in generating appointments. </a:t>
            </a:r>
          </a:p>
          <a:p>
            <a:pPr lvl="0"/>
            <a:r>
              <a:rPr lang="en-US" sz="2000" dirty="0"/>
              <a:t>General, Corporate, and Insurance patients show different appointment patterns, helping understand the major patient segments. </a:t>
            </a:r>
          </a:p>
          <a:p>
            <a:pPr lvl="0"/>
            <a:r>
              <a:rPr lang="en-US" sz="2000" dirty="0"/>
              <a:t>Treatment duration and waiting time vary by treatment status, highlighting areas where hospital efficiency can be improved. </a:t>
            </a:r>
          </a:p>
          <a:p>
            <a:pPr lvl="0"/>
            <a:r>
              <a:rPr lang="en-US" sz="2000" dirty="0"/>
              <a:t>Treatment outcomes differ across cities, helping management identify locations with stronger performance and areas that may need improvement. </a:t>
            </a:r>
          </a:p>
          <a:p>
            <a:pPr lvl="0"/>
            <a:r>
              <a:rPr lang="en-US" sz="2000" dirty="0"/>
              <a:t>Room and equipment utilization can be evaluated to support better allocation of hospital resources. </a:t>
            </a:r>
          </a:p>
          <a:p>
            <a:pPr lvl="0"/>
            <a:r>
              <a:rPr lang="en-US" sz="2000" dirty="0"/>
              <a:t>Treatment costs and estimated appointment costs can be compare</a:t>
            </a:r>
            <a:r>
              <a:rPr lang="en-US" sz="2000" b="1" dirty="0"/>
              <a:t>d</a:t>
            </a:r>
            <a:r>
              <a:rPr lang="en-US" sz="2000" dirty="0"/>
              <a:t> to identify cost variations and improve financial planning.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769952"/>
      </p:ext>
    </p:extLst>
  </p:cSld>
  <p:clrMapOvr>
    <a:masterClrMapping/>
  </p:clrMapOvr>
  <p:transition>
    <p:zoom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55EA-F7BD-5629-575F-0A90DBF4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892"/>
            <a:ext cx="10515600" cy="83997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Challenges Faced in the Project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CC44D-16F4-2BF6-433D-ADB13D82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27051"/>
            <a:ext cx="10515600" cy="5049912"/>
          </a:xfrm>
        </p:spPr>
        <p:txBody>
          <a:bodyPr>
            <a:normAutofit/>
          </a:bodyPr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relationships between multiple tables such as Patients, Appointments, Doctors, Rooms, and Treatments using primary and foreign keys.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complex SQL queries involving multiple JOIN, GROUP BY, aggregate functions, subqueries, and filtering conditions.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and maintaining data accuracy while analyzing appointment, treatment, waiting-time, and cost-related information.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Interpreting the query results and converting raw SQL outputs into meaningful insights for hospital management. 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different dimensions of hospital performance, such as cities, patient types, treatment status, rooms, and booking channels.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20006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9C51-9C5D-1D92-DD63-301E8367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791"/>
            <a:ext cx="10515600" cy="47846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itchFamily="18" charset="0"/>
                <a:ea typeface="Arial"/>
                <a:cs typeface="Times New Roman" pitchFamily="18" charset="0"/>
                <a:sym typeface="Arial"/>
              </a:rPr>
              <a:t>Conclusion &amp; Recommendation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8E3-087F-8327-3A61-0016ACE5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4521"/>
            <a:ext cx="10515600" cy="509244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clear view of hospital operations by analyzing patients, doctors,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appointments, rooms, and treatments using SQL.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identify appointment demand, patient patterns, treatment performance, waiting time, room utilization, and cost variations.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can support management in making better operational and resource-allocation decisions.</a:t>
            </a:r>
          </a:p>
          <a:p>
            <a:pPr>
              <a:lnSpc>
                <a:spcPct val="17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Recommendation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high-demand areas by allocating sufficient doctors, rooms,  resources.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patient waiting tim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improving appointment scheduling and resource allocation.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treatment duration and outcomes to identify areas requiring operational improvement.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effective booking channels to improve appointment demand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991388"/>
      </p:ext>
    </p:extLst>
  </p:cSld>
  <p:clrMapOvr>
    <a:masterClrMapping/>
  </p:clrMapOvr>
  <p:transition>
    <p:cover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http://pngimg.com/uploads/thank_you/thank_you_PNG5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7360" y="1280160"/>
            <a:ext cx="9133840" cy="442976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861</Words>
  <Application>Microsoft Office PowerPoint</Application>
  <PresentationFormat>Widescreen</PresentationFormat>
  <Paragraphs>101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Libre Baskerville</vt:lpstr>
      <vt:lpstr>Times New Roman</vt:lpstr>
      <vt:lpstr>Arial</vt:lpstr>
      <vt:lpstr>Office Theme</vt:lpstr>
      <vt:lpstr>PowerPoint Presentation</vt:lpstr>
      <vt:lpstr>PowerPoint Presentation</vt:lpstr>
      <vt:lpstr>Agenda  </vt:lpstr>
      <vt:lpstr>Project Overview</vt:lpstr>
      <vt:lpstr>Project Objective</vt:lpstr>
      <vt:lpstr>Dataset &amp; Database Overview</vt:lpstr>
      <vt:lpstr>ER Diagram &amp; Database Structure</vt:lpstr>
      <vt:lpstr>SQL Analysis &amp; Business Questions</vt:lpstr>
      <vt:lpstr>Examine booking channels and their contribution to demand?</vt:lpstr>
      <vt:lpstr> compare general,corporate,and insurance ?</vt:lpstr>
      <vt:lpstr>Examine treatment duration and waiting time ?</vt:lpstr>
      <vt:lpstr>Compare treatment outcomes ?</vt:lpstr>
      <vt:lpstr>Key Insights &amp; Findings</vt:lpstr>
      <vt:lpstr>Challenges Faced in the Project</vt:lpstr>
      <vt:lpstr>Conclusion &amp; Recommendation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Raghu Ram Aduri</dc:creator>
  <cp:lastModifiedBy>Kalagadandu Venkatarao</cp:lastModifiedBy>
  <cp:revision>37</cp:revision>
  <dcterms:created xsi:type="dcterms:W3CDTF">2021-02-16T05:19:01Z</dcterms:created>
  <dcterms:modified xsi:type="dcterms:W3CDTF">2026-09-15T04:47:09Z</dcterms:modified>
</cp:coreProperties>
</file>